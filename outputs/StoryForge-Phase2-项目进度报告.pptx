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cf8ec02c554e9b" /><Relationship Type="http://schemas.openxmlformats.org/officeDocument/2006/relationships/extended-properties" Target="/docProps/app.xml" Id="R4f22de1b74734382" /><Relationship Type="http://schemas.openxmlformats.org/officeDocument/2006/relationships/officeDocument" Target="/ppt/presentation.xml" Id="R63d87ddf03d349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e76e42787e47d4"/>
  </p:sldMasterIdLst>
  <p:notesMasterIdLst>
    <p:notesMasterId xmlns:r="http://schemas.openxmlformats.org/officeDocument/2006/relationships" r:id="Rb1a0e916174f483a"/>
  </p:notesMasterIdLst>
  <p:sldIdLst>
    <p:sldId xmlns:r="http://schemas.openxmlformats.org/officeDocument/2006/relationships" id="256" r:id="Ra2dc806afad5421d"/>
    <p:sldId xmlns:r="http://schemas.openxmlformats.org/officeDocument/2006/relationships" id="257" r:id="R57cc6223fe8c4815"/>
    <p:sldId xmlns:r="http://schemas.openxmlformats.org/officeDocument/2006/relationships" id="258" r:id="Rd94209eb9f1847ac"/>
    <p:sldId xmlns:r="http://schemas.openxmlformats.org/officeDocument/2006/relationships" id="259" r:id="R478aa27f317d4962"/>
    <p:sldId xmlns:r="http://schemas.openxmlformats.org/officeDocument/2006/relationships" id="260" r:id="Ra2c89e6829db4616"/>
    <p:sldId xmlns:r="http://schemas.openxmlformats.org/officeDocument/2006/relationships" id="261" r:id="Rfb8af075d51c4019"/>
    <p:sldId xmlns:r="http://schemas.openxmlformats.org/officeDocument/2006/relationships" id="262" r:id="R6004e71d16ff4dd5"/>
    <p:sldId xmlns:r="http://schemas.openxmlformats.org/officeDocument/2006/relationships" id="263" r:id="R1ba006f505b24bce"/>
    <p:sldId xmlns:r="http://schemas.openxmlformats.org/officeDocument/2006/relationships" id="264" r:id="R677ca65e10b2456c"/>
    <p:sldId xmlns:r="http://schemas.openxmlformats.org/officeDocument/2006/relationships" id="265" r:id="Rd027d91f09cc4184"/>
    <p:sldId xmlns:r="http://schemas.openxmlformats.org/officeDocument/2006/relationships" id="266" r:id="R5168e4e20bcc43ff"/>
    <p:sldId xmlns:r="http://schemas.openxmlformats.org/officeDocument/2006/relationships" id="267" r:id="R5e86d1d5696943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22e6e95c4b4c6a" /><Relationship Type="http://schemas.openxmlformats.org/officeDocument/2006/relationships/slideMaster" Target="/ppt/slideMasters/slideMaster1.xml" Id="R18e76e42787e47d4" /><Relationship Type="http://schemas.openxmlformats.org/officeDocument/2006/relationships/notesMaster" Target="/ppt/notesMasters/notesMaster1.xml" Id="Rb1a0e916174f483a" /><Relationship Type="http://schemas.openxmlformats.org/officeDocument/2006/relationships/presProps" Target="/ppt/presProps.xml" Id="R321441c104ab4363" /><Relationship Type="http://schemas.openxmlformats.org/officeDocument/2006/relationships/tableStyles" Target="/ppt/tableStyles.xml" Id="R32619d3f81e143f7" /><Relationship Type="http://schemas.openxmlformats.org/officeDocument/2006/relationships/slide" Target="/ppt/slides/slide1.xml" Id="Ra2dc806afad5421d" /><Relationship Type="http://schemas.openxmlformats.org/officeDocument/2006/relationships/slide" Target="/ppt/slides/slide2.xml" Id="R57cc6223fe8c4815" /><Relationship Type="http://schemas.openxmlformats.org/officeDocument/2006/relationships/slide" Target="/ppt/slides/slide3.xml" Id="Rd94209eb9f1847ac" /><Relationship Type="http://schemas.openxmlformats.org/officeDocument/2006/relationships/slide" Target="/ppt/slides/slide4.xml" Id="R478aa27f317d4962" /><Relationship Type="http://schemas.openxmlformats.org/officeDocument/2006/relationships/slide" Target="/ppt/slides/slide5.xml" Id="Ra2c89e6829db4616" /><Relationship Type="http://schemas.openxmlformats.org/officeDocument/2006/relationships/slide" Target="/ppt/slides/slide6.xml" Id="Rfb8af075d51c4019" /><Relationship Type="http://schemas.openxmlformats.org/officeDocument/2006/relationships/slide" Target="/ppt/slides/slide7.xml" Id="R6004e71d16ff4dd5" /><Relationship Type="http://schemas.openxmlformats.org/officeDocument/2006/relationships/slide" Target="/ppt/slides/slide8.xml" Id="R1ba006f505b24bce" /><Relationship Type="http://schemas.openxmlformats.org/officeDocument/2006/relationships/slide" Target="/ppt/slides/slide9.xml" Id="R677ca65e10b2456c" /><Relationship Type="http://schemas.openxmlformats.org/officeDocument/2006/relationships/slide" Target="/ppt/slides/slide10.xml" Id="Rd027d91f09cc4184" /><Relationship Type="http://schemas.openxmlformats.org/officeDocument/2006/relationships/slide" Target="/ppt/slides/slide11.xml" Id="R5168e4e20bcc43ff" /><Relationship Type="http://schemas.openxmlformats.org/officeDocument/2006/relationships/slide" Target="/ppt/slides/slide12.xml" Id="R5e86d1d5696943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1801186cce46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aa288151134978" /><Relationship Type="http://schemas.openxmlformats.org/officeDocument/2006/relationships/notesMaster" Target="/ppt/notesMasters/notesMaster1.xml" Id="Reec459cd11b845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3ae606cf3f459d" /><Relationship Type="http://schemas.openxmlformats.org/officeDocument/2006/relationships/notesMaster" Target="/ppt/notesMasters/notesMaster1.xml" Id="Ra164b6c6cec044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d17a1002684af8" /><Relationship Type="http://schemas.openxmlformats.org/officeDocument/2006/relationships/notesMaster" Target="/ppt/notesMasters/notesMaster1.xml" Id="Raf5bb44cc4fb4e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5a05d44afc4a52" /><Relationship Type="http://schemas.openxmlformats.org/officeDocument/2006/relationships/notesMaster" Target="/ppt/notesMasters/notesMaster1.xml" Id="R6a358b25ca134e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94dab1293c4c4b" /><Relationship Type="http://schemas.openxmlformats.org/officeDocument/2006/relationships/notesMaster" Target="/ppt/notesMasters/notesMaster1.xml" Id="R9e745bdeb55945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90affbec2648fa" /><Relationship Type="http://schemas.openxmlformats.org/officeDocument/2006/relationships/notesMaster" Target="/ppt/notesMasters/notesMaster1.xml" Id="Ra52386ae621b4d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b99c8de6b64a1a" /><Relationship Type="http://schemas.openxmlformats.org/officeDocument/2006/relationships/notesMaster" Target="/ppt/notesMasters/notesMaster1.xml" Id="Rc2fb0ade5fff4c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c3f2bf728b435e" /><Relationship Type="http://schemas.openxmlformats.org/officeDocument/2006/relationships/notesMaster" Target="/ppt/notesMasters/notesMaster1.xml" Id="R896b2aa6cd7f46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6c082d70ca4dbe" /><Relationship Type="http://schemas.openxmlformats.org/officeDocument/2006/relationships/notesMaster" Target="/ppt/notesMasters/notesMaster1.xml" Id="Rf203177560ac40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028acf9ea84a5d" /><Relationship Type="http://schemas.openxmlformats.org/officeDocument/2006/relationships/notesMaster" Target="/ppt/notesMasters/notesMaster1.xml" Id="R309bbce9bdfe42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ebfff036564a5d" /><Relationship Type="http://schemas.openxmlformats.org/officeDocument/2006/relationships/notesMaster" Target="/ppt/notesMasters/notesMaster1.xml" Id="R4d6d5f6254924d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a96da80e644fb7" /><Relationship Type="http://schemas.openxmlformats.org/officeDocument/2006/relationships/notesMaster" Target="/ppt/notesMasters/notesMaster1.xml" Id="R27ce9e8b345f47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f93a0bd7e4d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8f2e9668bc4fd0" /><Relationship Type="http://schemas.openxmlformats.org/officeDocument/2006/relationships/slideLayout" Target="/ppt/slideLayouts/slideLayout1.xml" Id="R74a52afdf2c940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a52afdf2c940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40463fbae492d" /><Relationship Type="http://schemas.openxmlformats.org/officeDocument/2006/relationships/notesSlide" Target="/ppt/notesSlides/notesSlide1.xml" Id="R45a6cee2337046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6ba4d7f9a4c44" /><Relationship Type="http://schemas.openxmlformats.org/officeDocument/2006/relationships/notesSlide" Target="/ppt/notesSlides/notesSlide2.xml" Id="R872b7bd4e85c47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196b316e54651" /><Relationship Type="http://schemas.openxmlformats.org/officeDocument/2006/relationships/notesSlide" Target="/ppt/notesSlides/notesSlide3.xml" Id="R9cbac7d683164c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ee37cb09d43c0" /><Relationship Type="http://schemas.openxmlformats.org/officeDocument/2006/relationships/notesSlide" Target="/ppt/notesSlides/notesSlide4.xml" Id="Raafb286d619b4a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0e1cb795349c2" /><Relationship Type="http://schemas.openxmlformats.org/officeDocument/2006/relationships/notesSlide" Target="/ppt/notesSlides/notesSlide5.xml" Id="Rfa393747b7fe4c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a116e07e14e2b" /><Relationship Type="http://schemas.openxmlformats.org/officeDocument/2006/relationships/notesSlide" Target="/ppt/notesSlides/notesSlide6.xml" Id="Rc0ac8d8f0ff340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a998d2cd94a19" /><Relationship Type="http://schemas.openxmlformats.org/officeDocument/2006/relationships/notesSlide" Target="/ppt/notesSlides/notesSlide7.xml" Id="Ra9053df93b2042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191b6c84e4ad1" /><Relationship Type="http://schemas.openxmlformats.org/officeDocument/2006/relationships/notesSlide" Target="/ppt/notesSlides/notesSlide8.xml" Id="R907b0c08bebd42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dc041c5bb4f1e" /><Relationship Type="http://schemas.openxmlformats.org/officeDocument/2006/relationships/notesSlide" Target="/ppt/notesSlides/notesSlide9.xml" Id="R22d9bdd768db46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3504a40c34ba1" /><Relationship Type="http://schemas.openxmlformats.org/officeDocument/2006/relationships/notesSlide" Target="/ppt/notesSlides/notesSlide10.xml" Id="R4b6a8962d90c47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2840199564358" /><Relationship Type="http://schemas.openxmlformats.org/officeDocument/2006/relationships/notesSlide" Target="/ppt/notesSlides/notesSlide11.xml" Id="R44979c14bbb245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f384a0d834d73" /><Relationship Type="http://schemas.openxmlformats.org/officeDocument/2006/relationships/notesSlide" Target="/ppt/notesSlides/notesSlide12.xml" Id="R1e2d2ba3a1944d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0B80A4-941B-4321-9A4C-A6384AFA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590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F172A"/>
                </a:solidFill>
              </a:defRPr>
            </a:pPr>
            <a:r>
              <a:rPr sz="4800" b="1">
                <a:solidFill>
                  <a:srgbClr val="0F172A"/>
                </a:solidFill>
              </a:rPr>
              <a:t>StoryForge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0EF3B-FC40-4197-A352-D99B4C4E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F46E5"/>
                </a:solidFill>
              </a:defRPr>
            </a:pPr>
            <a:r>
              <a:rPr sz="2850" b="1">
                <a:solidFill>
                  <a:srgbClr val="4F46E5"/>
                </a:solidFill>
              </a:rPr>
              <a:t>Phase2 项目进度报告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1612D-38A9-4CA7-BFBD-3B9FE01E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75569"/>
                </a:solidFill>
              </a:defRPr>
            </a:pPr>
            <a:r>
              <a:rPr sz="1950" b="0">
                <a:solidFill>
                  <a:srgbClr val="475569"/>
                </a:solidFill>
              </a:rPr>
              <a:t>从基础分支创作平台，升级为可发布、可互动、可分析的 AI 故事平台。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D2611-D789-4F06-875A-43E2E443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47700"/>
            <a:ext cx="29527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43EBA-8D55-4727-94AB-07DDA1E0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0096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当前状态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0FF3C-E0D5-48E3-9E5A-68574619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00200"/>
            <a:ext cx="22479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60CB2-086A-4918-ACB2-BF910943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097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F46E5"/>
                </a:solidFill>
              </a:defRPr>
            </a:pPr>
            <a:r>
              <a:rPr sz="3300" b="1">
                <a:solidFill>
                  <a:srgbClr val="4F46E5"/>
                </a:solidFill>
              </a:rPr>
              <a:t>009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F229E-7ADC-4FFC-A474-BDDFD997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数据库迁移已执行到最新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5748E-57FB-4684-AB0E-1C763DC4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2479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E8757-C5EE-46C8-963C-D0893444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A34A"/>
                </a:solidFill>
              </a:defRPr>
            </a:pPr>
            <a:r>
              <a:rPr sz="3300" b="1">
                <a:solidFill>
                  <a:srgbClr val="16A34A"/>
                </a:solidFill>
              </a:rPr>
              <a:t>4/4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8E55B-FEB2-43D9-92AA-2903348F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后端基础测试通过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19B9E-32CA-42DF-9904-DDE0A922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53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汇报内容：功能变化、团队分工、未来展望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8F45DB-5E8A-43A6-A072-464AE6EF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StoryForge 项目进度报告 · 1</a:t>
            </a:r>
          </a:p>
        </p:txBody>
      </p:sp>
    </p:spTree>
    <p:extLst>
      <p:ext uri="{BB962C8B-B14F-4D97-AF65-F5344CB8AC3E}">
        <p14:creationId xmlns:p14="http://schemas.microsoft.com/office/powerpoint/2010/main" val="652760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A6B740-5F71-42E1-A0F1-842207F7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StoryForge Phase2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D971A-A8B3-4349-9E11-91EC2572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最初版本解决了创作入口，但平台闭环还不完整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AEB93-7F72-4AC0-98CB-35283C4C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86E92-B8B9-4BF5-BF72-92E746BE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F269D-C381-40C8-B7B5-0D8212CA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已有基础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E8055-154C-401C-BF93-399D00D6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9718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用户注册登录、故事创建编辑、节点分支结构、角色系统、基础收藏评分和管理员审核入口。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3A6F0-0699-4994-AD20-D42A4C92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D2C5C-F9CB-479C-A7BF-EFFAD742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主要短板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DC097-4DE8-40A3-8482-D637C649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19350"/>
            <a:ext cx="29718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页面风格不统一，部分中文显示异常；AI 故事流程较分散；缺少评论、导出和阅读分析。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968A4-3419-4F8F-BC84-21BF73A9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E53BA-C09A-4B8F-ACBB-2BE941E2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本期目标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9F19B-0D4E-434D-ADF9-C09CB0E7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19350"/>
            <a:ext cx="29718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把项目从“能写故事”推进到“能发布、能互动、能 AI 动态体验、能看数据”。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AF7DA-C3D6-4FC1-9D4A-DD7D24DD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StoryForge 项目进度报告 · 2</a:t>
            </a:r>
          </a:p>
        </p:txBody>
      </p:sp>
    </p:spTree>
    <p:extLst>
      <p:ext uri="{BB962C8B-B14F-4D97-AF65-F5344CB8AC3E}">
        <p14:creationId xmlns:p14="http://schemas.microsoft.com/office/powerpoint/2010/main" val="1988530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D96C6D-E5C6-4A4B-BCEE-EEBD6386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StoryForge Phase2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89DC3-0FDA-4AFC-99B7-61699004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Phase2 把平台能力扩展成四条完整链路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B0E58-9CF9-4AFC-ACD9-2D89A966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B8DD4-12F3-4DB9-B1CF-96B21192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690813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DC801-B6F5-484D-8D17-9FD5279D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93FBE-9E35-4E71-99A4-EFBE9EE9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18335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创作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A3CCB-D47F-4E10-9554-9F201250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18335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手动故事与 AI 规则书并行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2933C-6068-4246-A82B-5D130189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1809750"/>
            <a:ext cx="2690813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1203A-0D50-424B-B90C-C8CE84F5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1981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3CF49-1644-4DE5-A510-695825CE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019300"/>
            <a:ext cx="18335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发布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03DE7-59E3-4107-913F-EEF2DE12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400300"/>
            <a:ext cx="18335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故事广场与 AI 广场入口清晰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67DC9-F16B-459B-B2C3-C75648C3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09750"/>
            <a:ext cx="2690813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9FE3C-C6FD-4452-89FF-E7FDE0CF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81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95BE8-3067-4F72-BCD6-FAAA248C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019300"/>
            <a:ext cx="18335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互动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BDE8F-9A8B-46D8-A283-CE66CBB1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00300"/>
            <a:ext cx="18335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评论、评分、选择续写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2D4E3-BD26-4ADC-A858-B49D1011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809750"/>
            <a:ext cx="2690813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387389-9AB9-4B3C-B982-77318A43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1981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196749-D8AC-4C75-89C0-EEA658B5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2019300"/>
            <a:ext cx="18335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7F6A3-AB3D-45A2-ACF1-EA24A9C9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2400300"/>
            <a:ext cx="18335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导出、阅读埋点、数据分析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98B65-8FBC-46D7-A60A-F91C36FB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核心变化不是单点功能增加，而是把读者体验和作者反馈连成闭环。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3EED59-7253-455A-BE47-CB03CEAC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StoryForge 项目进度报告 · 3</a:t>
            </a:r>
          </a:p>
        </p:txBody>
      </p:sp>
    </p:spTree>
    <p:extLst>
      <p:ext uri="{BB962C8B-B14F-4D97-AF65-F5344CB8AC3E}">
        <p14:creationId xmlns:p14="http://schemas.microsoft.com/office/powerpoint/2010/main" val="5758817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8384CE-65A6-4512-80CA-67433951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StoryForge Phase2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6C2EEA-AFC4-4693-9BD2-19206B64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AI 故事系统已经形成从规则书到阅读器的闭环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DD1C0-FDFA-44C7-AB9D-67122FFF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E6959-799D-413E-8DF9-A5F505C8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5715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AI 故事工坊用于创建世界观、角色、大纲、开局提示和风格规则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AI 故事广场展示已发布规则书，并支持详情查看与开始冒险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AI 阅读器根据用户选择实时续写剧情，并保存会话上下文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当前选项持久化到会话，刷新后仍能继续体验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1BDB1-9287-4A07-89AA-27ABC7CA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90700"/>
            <a:ext cx="4095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CC243-97FB-41A2-A0CB-E1B4CA6F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812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关键页面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CB012-5430-4776-B341-A416C2CA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00300"/>
            <a:ext cx="3638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ai-workshop.html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ai-stories.html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ai-story-reader.html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my_stories.html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3D572-B0DC-4FBC-9F13-29DF96FD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91000"/>
            <a:ext cx="4095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245F7-074A-462D-A463-7A58F38D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3815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体验修复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28B52-362E-405C-A516-48F51D14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800600"/>
            <a:ext cx="3638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选择后立即显示生成中状态；生成失败时恢复选项并显示原因，避免用户误以为按钮无响应。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3C372-655B-4220-87D2-5F25C15D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StoryForge 项目进度报告 · 4</a:t>
            </a:r>
          </a:p>
        </p:txBody>
      </p:sp>
    </p:spTree>
    <p:extLst>
      <p:ext uri="{BB962C8B-B14F-4D97-AF65-F5344CB8AC3E}">
        <p14:creationId xmlns:p14="http://schemas.microsoft.com/office/powerpoint/2010/main" val="2071690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4BF2A7-9D5A-4CA8-90FE-30E3997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StoryForge Phase2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D1911-0B39-4D68-A636-F3C8EBDA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评论和评分让故事从单向阅读变成社区反馈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4C485-D86B-4C7B-905D-EA8CDF06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6DE2A-AFA7-4618-8224-7B46D10C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E6541-1E52-403B-947A-A3E06419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评论系统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24CDFD-2C5E-45C9-ACB8-C12AE0AE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9718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普通故事阅读页新增评论区；AI 阅读器新增评论弹窗；支持分页、发表、删除和登录提示。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C7215-0F53-4EC4-94E4-9BD28872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C9A80-EFF7-4782-8679-1B4C9318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812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故事评分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BC6A0-D300-48F1-B5CC-25378F15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00300"/>
            <a:ext cx="29718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普通故事支持 1-5 星评分，更新平均分和评分人数，评分体验直接嵌入阅读流程。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386D6-9A1C-4A29-8CF3-D49408A5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D4696-2015-42C2-92B1-C92FDFFD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812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规则书评分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CBA64-B391-47D3-B132-7BDA5ACC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29718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AI 广场详情弹窗支持对规则书评分，帮助优质 AI 故事配置被看见。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AAA9E-3A83-44E9-AAE7-CACF4D92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对应接口：comments、interactions/rate、aiStory/configs/:id/rate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AD3CA-E5EB-471B-89CC-DA609D65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StoryForge 项目进度报告 · 5</a:t>
            </a:r>
          </a:p>
        </p:txBody>
      </p:sp>
    </p:spTree>
    <p:extLst>
      <p:ext uri="{BB962C8B-B14F-4D97-AF65-F5344CB8AC3E}">
        <p14:creationId xmlns:p14="http://schemas.microsoft.com/office/powerpoint/2010/main" val="755677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48D4D5-DBFC-4BFB-A5FC-93C5AC7C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StoryForge Phase2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B8CF5-99D5-43BF-A9A5-8312E096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导出和阅读分析补齐了作者侧工具链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08A23-7F39-4429-8DA2-C3016FE91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A0016E-98F7-4928-9927-31439C48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9D858-F785-46AB-85AA-EE83AFE7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97316"/>
                </a:solidFill>
              </a:defRPr>
            </a:pPr>
            <a:r>
              <a:rPr sz="3300" b="1">
                <a:solidFill>
                  <a:srgbClr val="F97316"/>
                </a:solidFill>
              </a:rPr>
              <a:t>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81DBA-83D9-45BA-BD42-7E7F9013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故事导出为适合分享和归档的文档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710B9-083E-459E-9BD6-263E0CBC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3416D-018A-474C-8666-879E7434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193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4F46E5"/>
                </a:solidFill>
              </a:defRPr>
            </a:pPr>
            <a:r>
              <a:rPr sz="3300" b="1">
                <a:solidFill>
                  <a:srgbClr val="4F46E5"/>
                </a:solidFill>
              </a:rPr>
              <a:t>EPUB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B5DC0-19AA-4465-BC04-405128C9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098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故事导出为适合电子书阅读的格式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4FC9DE-035B-4757-A598-A2AA3360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1AD7C-455B-4C55-8673-7CE1D8CC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193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A34A"/>
                </a:solidFill>
              </a:defRPr>
            </a:pPr>
            <a:r>
              <a:rPr sz="3300" b="1">
                <a:solidFill>
                  <a:srgbClr val="16A34A"/>
                </a:solidFill>
              </a:rPr>
              <a:t>埋点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E16562-366C-46B5-957C-C1992515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记录进入节点、选择文本和跳转路径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118F7A-F903-414B-A99F-0297BE1F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9750"/>
            <a:ext cx="23812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C5F72-1473-495D-9595-B9DF8C28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19300"/>
            <a:ext cx="2038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D97706"/>
                </a:solidFill>
              </a:defRPr>
            </a:pPr>
            <a:r>
              <a:rPr sz="3300" b="1">
                <a:solidFill>
                  <a:srgbClr val="D97706"/>
                </a:solidFill>
              </a:rPr>
              <a:t>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A0A69-4102-480B-8483-14D94E5E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展示热门选择、完成率和路径流向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EFD8F-145F-489C-98AC-CFD23726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这些功能让作者不仅能发布故事，还能带着数据理解读者如何阅读。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D44A7A-739A-4E2E-B31D-4B4C44C1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StoryForge 项目进度报告 · 6</a:t>
            </a:r>
          </a:p>
        </p:txBody>
      </p:sp>
    </p:spTree>
    <p:extLst>
      <p:ext uri="{BB962C8B-B14F-4D97-AF65-F5344CB8AC3E}">
        <p14:creationId xmlns:p14="http://schemas.microsoft.com/office/powerpoint/2010/main" val="397357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D4644F-F966-49DF-A5B6-7959BA1A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StoryForge Phase2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8CC4C-3512-4E28-B61B-A6B43BE4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前端重点从“能用”优化到“清晰、统一、有反馈”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06C68-DABB-4CD6-97FB-98ECAD13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3930E-4C29-4DD2-8CAF-0C9428AF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修复多处中文乱码和异常符号显示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统一顶部导航，并增加 AI 广场入口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故事阅览页、作品库、AI 广场之间跳转更明确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AI 工坊与 AI 广场风格向整体项目收敛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• 作品库增加 AI 规则书管理、发布提示和数据分析入口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191CE-3AD8-45FD-A5CC-227FBD9A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33550"/>
            <a:ext cx="4095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4EC0CA-889F-4476-B663-0B040755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用户体验收益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EE46F-82FD-4F1D-88BE-ADB1506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0510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75569"/>
                </a:solidFill>
              </a:defRPr>
            </a:pPr>
            <a:r>
              <a:rPr sz="1950" b="0">
                <a:solidFill>
                  <a:srgbClr val="475569"/>
                </a:solidFill>
              </a:rPr>
              <a:t>入口更明显</a:t>
            </a:r>
          </a:p>
          <a:p xmlns:a="http://schemas.openxmlformats.org/drawingml/2006/main">
            <a:pPr algn="l">
              <a:defRPr sz="1950" b="0">
                <a:solidFill>
                  <a:srgbClr val="475569"/>
                </a:solidFill>
              </a:defRPr>
            </a:pPr>
            <a:r>
              <a:rPr sz="1950" b="0">
                <a:solidFill>
                  <a:srgbClr val="475569"/>
                </a:solidFill>
              </a:rPr>
              <a:t>操作反馈更及时</a:t>
            </a:r>
          </a:p>
          <a:p xmlns:a="http://schemas.openxmlformats.org/drawingml/2006/main">
            <a:pPr algn="l">
              <a:defRPr sz="1950" b="0">
                <a:solidFill>
                  <a:srgbClr val="475569"/>
                </a:solidFill>
              </a:defRPr>
            </a:pPr>
            <a:r>
              <a:rPr sz="1950" b="0">
                <a:solidFill>
                  <a:srgbClr val="475569"/>
                </a:solidFill>
              </a:rPr>
              <a:t>错误原因更可见</a:t>
            </a:r>
          </a:p>
          <a:p xmlns:a="http://schemas.openxmlformats.org/drawingml/2006/main">
            <a:pPr algn="l">
              <a:defRPr sz="1950" b="0">
                <a:solidFill>
                  <a:srgbClr val="475569"/>
                </a:solidFill>
              </a:defRPr>
            </a:pPr>
            <a:r>
              <a:rPr sz="1950" b="0">
                <a:solidFill>
                  <a:srgbClr val="475569"/>
                </a:solidFill>
              </a:rPr>
              <a:t>页面风格更一致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41CE3-3A3B-4162-B5BC-A8963E30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StoryForge 项目进度报告 · 7</a:t>
            </a:r>
          </a:p>
        </p:txBody>
      </p:sp>
    </p:spTree>
    <p:extLst>
      <p:ext uri="{BB962C8B-B14F-4D97-AF65-F5344CB8AC3E}">
        <p14:creationId xmlns:p14="http://schemas.microsoft.com/office/powerpoint/2010/main" val="16831102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C0BFA1-97A8-4055-BD05-9150E28E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StoryForge Phase2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AFC63-9B66-4004-8878-C6804EC6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数据库迁移和后端接口支撑了 Phase2 的稳定落地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70611-0137-4E80-AE91-BA46FE06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711B7-712D-457D-8D1A-44CAC8A4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F46E5"/>
                </a:solidFill>
              </a:defRPr>
            </a:pPr>
            <a:r>
              <a:rPr sz="1800" b="1">
                <a:solidFill>
                  <a:srgbClr val="4F46E5"/>
                </a:solidFill>
              </a:rPr>
              <a:t>已执行迁移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88E0A-CD72-4877-97F2-C5BCD441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9D441-2ECD-41B8-9A7D-BA48FE50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098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C7C394-2E63-4216-8042-5454CB4D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001-005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2851F-8011-4936-A029-25447B3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05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核心表、节点分支、互动表、AI 模式、字段修正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12CEF-6F78-418A-820D-E568F1AB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E1639-E337-460A-BB5A-0E92E69C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622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D662E-93F4-429E-84DC-22EC674A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006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0259E-1896-453E-96AE-DD37B2C9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story_comments 评论表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90025-3194-4364-B15A-649BCA23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147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3E9FE-AEF7-486C-8AE6-A21FF476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A21F2A-DE3E-4BFE-9FEF-72C0D90B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007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F1FE1-A6D4-498F-9533-2799BC83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099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story_read_events 阅读事件表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461557-0FF2-4A3C-8747-A9F895CB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7D3C0-DE67-41B8-AB0E-33032C7F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8671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D44179-AE62-48CC-93E4-93DCAA1F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172A"/>
                </a:solidFill>
              </a:defRPr>
            </a:pPr>
            <a:r>
              <a:rPr sz="1425" b="1">
                <a:solidFill>
                  <a:srgbClr val="0F172A"/>
                </a:solidFill>
              </a:rPr>
              <a:t>008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10C81-57ED-4B4D-96F8-042C809F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624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ai_story_sessions.current_choices 当前选项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02FBB6-5163-49BD-8017-9B4457C7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DEC20-808A-4436-82BF-00404B8A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4196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74D080-5B25-4695-B5F7-0CE2996F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F46E5"/>
                </a:solidFill>
              </a:defRPr>
            </a:pPr>
            <a:r>
              <a:rPr sz="1425" b="1">
                <a:solidFill>
                  <a:srgbClr val="4F46E5"/>
                </a:solidFill>
              </a:rPr>
              <a:t>009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D133A-59C2-48C7-8A95-3FE6229C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14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ai_config_ratings AI 规则书评分表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8DF0C3-DECD-4C5E-ADD6-781F3E82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09800"/>
            <a:ext cx="18097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DC7F4D-CE36-4456-99C0-2143A42A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003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验证结果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28DACB-DD79-4C9A-BA7D-593F8CA3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19400"/>
            <a:ext cx="13525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node db/migrate.js status：001 到 009 均为 executed</a:t>
            </a:r>
          </a:p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npm test：2 个测试文件、4 个用例全部通过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7C26D4-18CF-4172-9E33-2A3D3941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StoryForge 项目进度报告 · 8</a:t>
            </a:r>
          </a:p>
        </p:txBody>
      </p:sp>
    </p:spTree>
    <p:extLst>
      <p:ext uri="{BB962C8B-B14F-4D97-AF65-F5344CB8AC3E}">
        <p14:creationId xmlns:p14="http://schemas.microsoft.com/office/powerpoint/2010/main" val="17890288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44C281-112F-46D8-86B7-5FD206F5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StoryForge Phase2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DA013-92C9-4A74-8F80-37D1A28C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四人分工围绕前端、AI、后端和质量形成协作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7BD91-7937-4DCE-AE50-2AAB359E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63E9D-0A58-447A-9A0D-443EF261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28249-553F-4D74-849E-153C0E3F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成员 A</a:t>
            </a:r>
          </a:p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前端体验负责人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D043B-E3D1-4818-B090-6009520E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1145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页面统一、导航、视觉风格、入口优化、乱码修复。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38701-B0A6-4DDE-AEE6-C36072C5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D4D0E-A70D-4C98-8543-1BE5E967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812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成员 B</a:t>
            </a:r>
          </a:p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AI 功能负责人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DB211-72AD-4F5F-A7A5-8A769BB3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21145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AI 工坊、规则书、AI 广场、AI 阅读器和会话体验。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CD4944-5332-4A4D-BB3A-61048353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907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7E518-B4BE-4C5E-A72E-F91AFC85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812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成员 C</a:t>
            </a:r>
          </a:p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后端数据库负责人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4672A-475F-441B-BEA5-0C42CA51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21145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MySQL 迁移、API、权限、评论评分和数据模型。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4F38E9-656C-4EA9-8096-1A3EFF09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907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B1897-B1C4-431D-8838-471C7664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8120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成员 D</a:t>
            </a:r>
          </a:p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数据质量负责人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34BA3-05F5-46B4-8C58-CEF6CF5B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21145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PDF/EPUB 导出、阅读分析、测试验证和汇报文档。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C9B19-39B2-4EEA-A427-C5613CB1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F46E5"/>
                </a:solidFill>
              </a:defRPr>
            </a:pPr>
            <a:r>
              <a:rPr sz="1650" b="1">
                <a:solidFill>
                  <a:srgbClr val="4F46E5"/>
                </a:solidFill>
              </a:rPr>
              <a:t>分工原则：每个人负责一条能力线，同时在集成阶段共同排查体验和接口问题。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6DBA3-480E-4A63-8E11-9F309926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StoryForge 项目进度报告 · 9</a:t>
            </a:r>
          </a:p>
        </p:txBody>
      </p:sp>
    </p:spTree>
    <p:extLst>
      <p:ext uri="{BB962C8B-B14F-4D97-AF65-F5344CB8AC3E}">
        <p14:creationId xmlns:p14="http://schemas.microsoft.com/office/powerpoint/2010/main" val="10994617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486032-1418-45A7-9C90-B19E0D8F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StoryForge Phase2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3F21F-C1B7-4053-A247-468E1909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Phase2 核心功能基本完成，增强型 AI 创作留到下一阶段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9EA72-B96F-4B58-BE96-EB16FE66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F17A9-6442-4D01-914C-282810F3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F121C-403B-4F12-9A8E-83218B99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C84EC-A79D-4358-93EE-48897E7B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43053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AI 工坊基础功能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AI 故事广场与阅读器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评论与评分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PDF/EPUB 导出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阅读数据埋点与分析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数据库迁移 001-009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5B2F1-C8AC-4C47-AA71-9C90F86A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4762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0CD90-48C9-4265-8735-2A7B9975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812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待完善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E7CE2-8131-462B-8F7C-C80C78B9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00300"/>
            <a:ext cx="43053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AI 自动生成角色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AI 自动生成大纲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规则书试运行预览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故事模板选择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完整接口测试覆盖</a:t>
            </a:r>
          </a:p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更完善的后台运营能力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4D4E2-D3CA-4227-A0B2-AFE85FD2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StoryForge 项目进度报告 · 10</a:t>
            </a:r>
          </a:p>
        </p:txBody>
      </p:sp>
    </p:spTree>
    <p:extLst>
      <p:ext uri="{BB962C8B-B14F-4D97-AF65-F5344CB8AC3E}">
        <p14:creationId xmlns:p14="http://schemas.microsoft.com/office/powerpoint/2010/main" val="5262183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1EB33A-5057-4464-8F3C-09C4371E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F46E5"/>
                </a:solidFill>
              </a:defRPr>
            </a:pPr>
            <a:r>
              <a:rPr sz="1200" b="1">
                <a:solidFill>
                  <a:srgbClr val="4F46E5"/>
                </a:solidFill>
              </a:rPr>
              <a:t>StoryForge Phase2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2175B-5FA8-409A-98F2-21829ED8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下一阶段重点是让 AI 创作更省力，让运营更可控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D1DAE-9115-4FFF-92CC-1DB3F92E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B2167-6020-4C62-999B-B9570F61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690813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262A0-6F2C-4521-B8A3-5A8F09DF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019F7-B998-4871-81B3-13CAC828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18335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AI 辅助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F78D2-7D38-42B8-B56B-32B45E38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18335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角色、大纲、预览、模板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165DD-0A65-4F2B-B8D3-77B92CA7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1809750"/>
            <a:ext cx="2690813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BCE23-23E8-4E17-904D-8D18A282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1981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F1510-1095-445C-940B-EA060889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019300"/>
            <a:ext cx="18335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数据增强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7D87B-011F-45B0-850A-63DAF970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400300"/>
            <a:ext cx="18335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路径图、读者漏斗、趋势统计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0CC4B-0090-493B-834A-F6627E33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09750"/>
            <a:ext cx="2690813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E4184-DBFA-496C-90C1-A1221636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81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8E2FB1-CA85-4761-87EB-C9A2E0D6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019300"/>
            <a:ext cx="18335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平台运营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C27B93-661C-4871-9269-68E63B5D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00300"/>
            <a:ext cx="18335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审核、推荐、榜单、用户管理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2295B-BDE4-4A89-894E-A87FCE9E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1809750"/>
            <a:ext cx="2690813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5F3FE8-8279-4707-BA19-D52B9B12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19812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AC3F8-1124-4971-A6DE-592AC3C2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2019300"/>
            <a:ext cx="18335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工程质量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A6ABF-184D-4D95-866E-514CDE1D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2400300"/>
            <a:ext cx="1833563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E2E、CI、部署和安全配置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87AAC-ABA3-48F9-80F7-A722161E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未来目标：让作者更快搭建世界，让读者更容易发现好故事，让平台更稳定地运行。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0F282-8C94-468D-B43C-8CCF7112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StoryForge 项目进度报告 · 11</a:t>
            </a:r>
          </a:p>
        </p:txBody>
      </p:sp>
    </p:spTree>
    <p:extLst>
      <p:ext uri="{BB962C8B-B14F-4D97-AF65-F5344CB8AC3E}">
        <p14:creationId xmlns:p14="http://schemas.microsoft.com/office/powerpoint/2010/main" val="8505325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BEE2CC-0099-48AB-93BF-F9E46044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F172A"/>
                </a:solidFill>
              </a:defRPr>
            </a:pPr>
            <a:r>
              <a:rPr sz="3900" b="1">
                <a:solidFill>
                  <a:srgbClr val="0F172A"/>
                </a:solidFill>
              </a:rPr>
              <a:t>阶段结论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83F91-990F-4F9B-910C-BCC45737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895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F46E5"/>
                </a:solidFill>
              </a:defRPr>
            </a:pPr>
            <a:r>
              <a:rPr sz="2550" b="1">
                <a:solidFill>
                  <a:srgbClr val="4F46E5"/>
                </a:solidFill>
              </a:rPr>
              <a:t>StoryForge 已经从基础故事创作雏形，成长为具备 AI 互动、社区反馈和数据分析能力的平台。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AF967-1E96-4C84-9B49-197ACAA6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43C87-4403-4E2B-93B0-307A0077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对读者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BDF87-E8CC-4DDF-BF58-45B526C3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互动阅读更强，每次选择都能推动 AI 生成新的剧情。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60079-9BAE-45F7-9C5C-1D5DF72F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C67692-5541-435B-AC5B-BDE6675C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290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对作者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7A529-56B8-4D35-84B6-2C5ECEFA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481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创作、发布、反馈、导出和数据分析形成完整流程。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C0756-5D64-42CC-90A6-5B2B5D9B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CFDBE-3BD9-4C1D-B25C-0C70341D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对团队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B256F-84C4-4455-A8A3-8DD8C0B9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文档、迁移、接口和分工更清楚，后续扩展更容易。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C7793-3D7D-4216-97B9-24AB0F98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Phase2 的价值：让项目从功能可用，进一步走向体验完整、数据可追踪、AI 可扩展。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66ED8-8517-4255-9679-F8AEDAD1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627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StoryForge 项目进度报告 · 12</a:t>
            </a:r>
          </a:p>
        </p:txBody>
      </p:sp>
    </p:spTree>
    <p:extLst>
      <p:ext uri="{BB962C8B-B14F-4D97-AF65-F5344CB8AC3E}">
        <p14:creationId xmlns:p14="http://schemas.microsoft.com/office/powerpoint/2010/main" val="1997005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2026-07-09T10:16:37.1940000Z</dcterms:created>
  <dcterms:modified xsi:type="dcterms:W3CDTF">2026-07-09T10:16:37.1940000Z</dcterms:modified>
</coreProperties>
</file>